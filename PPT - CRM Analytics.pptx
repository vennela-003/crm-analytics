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3"/>
  </p:notesMasterIdLst>
  <p:sldIdLst>
    <p:sldId id="257" r:id="rId2"/>
    <p:sldId id="258" r:id="rId3"/>
    <p:sldId id="265" r:id="rId4"/>
    <p:sldId id="287" r:id="rId5"/>
    <p:sldId id="277" r:id="rId6"/>
    <p:sldId id="278" r:id="rId7"/>
    <p:sldId id="280" r:id="rId8"/>
    <p:sldId id="279" r:id="rId9"/>
    <p:sldId id="282" r:id="rId10"/>
    <p:sldId id="281" r:id="rId11"/>
    <p:sldId id="259" r:id="rId12"/>
    <p:sldId id="260" r:id="rId13"/>
    <p:sldId id="262" r:id="rId14"/>
    <p:sldId id="261" r:id="rId15"/>
    <p:sldId id="263" r:id="rId16"/>
    <p:sldId id="264" r:id="rId17"/>
    <p:sldId id="285" r:id="rId18"/>
    <p:sldId id="286" r:id="rId19"/>
    <p:sldId id="274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8" autoAdjust="0"/>
    <p:restoredTop sz="94660"/>
  </p:normalViewPr>
  <p:slideViewPr>
    <p:cSldViewPr snapToGrid="0">
      <p:cViewPr varScale="1">
        <p:scale>
          <a:sx n="62" d="100"/>
          <a:sy n="62" d="100"/>
        </p:scale>
        <p:origin x="8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0DA29A-D16B-4FD6-B314-482F6E29DDD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6AFF3-4A8D-4693-9FF1-9EA08E69D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1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6AFF3-4A8D-4693-9FF1-9EA08E69D8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9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6AFF3-4A8D-4693-9FF1-9EA08E69D8D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93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7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2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9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72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4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69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68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0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47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8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31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603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22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73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04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3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D41D3C9-716A-4EFF-8E91-96799F315D9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909DAB9-1E77-41B0-8443-4D6314567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68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9FA3-584D-5E50-1138-1738CEEA8E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54DB0-BDA2-A97A-8F44-9D2C4BAFA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" y="5009467"/>
            <a:ext cx="6308333" cy="939270"/>
          </a:xfrm>
        </p:spPr>
        <p:txBody>
          <a:bodyPr>
            <a:noAutofit/>
          </a:bodyPr>
          <a:lstStyle/>
          <a:p>
            <a:pPr algn="l"/>
            <a:r>
              <a:rPr lang="en-US" sz="6000" b="1" dirty="0">
                <a:latin typeface="Algerian" panose="04020705040A02060702" pitchFamily="82" charset="0"/>
              </a:rPr>
              <a:t>CRM Analytics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9C00F-A910-5CA6-F5D7-E7BD32F46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4000"/>
                    </a14:imgEffect>
                    <a14:imgEffect>
                      <a14:brightnessContrast brigh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965" t="12413" r="6141" b="13077"/>
          <a:stretch>
            <a:fillRect/>
          </a:stretch>
        </p:blipFill>
        <p:spPr>
          <a:xfrm>
            <a:off x="41096" y="-2569"/>
            <a:ext cx="12109807" cy="4466597"/>
          </a:xfrm>
          <a:prstGeom prst="rect">
            <a:avLst/>
          </a:prstGeom>
          <a:solidFill>
            <a:schemeClr val="bg1">
              <a:alpha val="88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40547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3734B-D2AE-ABEA-6E20-EB398F197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34948"/>
            <a:ext cx="6339155" cy="4171308"/>
          </a:xfrm>
        </p:spPr>
        <p:txBody>
          <a:bodyPr>
            <a:normAutofit/>
          </a:bodyPr>
          <a:lstStyle/>
          <a:p>
            <a:pPr algn="l"/>
            <a: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Arti  Gadhave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  </a:t>
            </a:r>
            <a: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Pilli Venkata Dharani</a:t>
            </a:r>
            <a:b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Ninar Vennela</a:t>
            </a:r>
            <a:b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Mogasala Nihitha</a:t>
            </a:r>
            <a:b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Shivam Gupta</a:t>
            </a:r>
            <a:b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Muthe DevikaSai</a:t>
            </a:r>
            <a:b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Phalak Ahmed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5B51A-AFE0-3531-ECD8-A59ABA327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0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lgerian" panose="04020705040A02060702" pitchFamily="82" charset="0"/>
              </a:rPr>
              <a:t>Group Details</a:t>
            </a:r>
          </a:p>
        </p:txBody>
      </p:sp>
    </p:spTree>
    <p:extLst>
      <p:ext uri="{BB962C8B-B14F-4D97-AF65-F5344CB8AC3E}">
        <p14:creationId xmlns:p14="http://schemas.microsoft.com/office/powerpoint/2010/main" val="3304652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74E81-CA6B-8C95-E017-3A9D5E2EDD4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920750"/>
            <a:ext cx="1766888" cy="404813"/>
          </a:xfrm>
        </p:spPr>
        <p:txBody>
          <a:bodyPr>
            <a:normAutofit fontScale="90000"/>
          </a:bodyPr>
          <a:lstStyle/>
          <a:p>
            <a:pPr algn="l"/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BB6CC-39A7-3784-5763-D09770D5E99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-68263"/>
            <a:ext cx="12082463" cy="74771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lgerian" panose="04020705040A02060702" pitchFamily="82" charset="0"/>
              </a:rPr>
              <a:t>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635634-9118-7C05-0AED-F0F1EB6141B2}"/>
              </a:ext>
            </a:extLst>
          </p:cNvPr>
          <p:cNvSpPr txBox="1"/>
          <p:nvPr/>
        </p:nvSpPr>
        <p:spPr>
          <a:xfrm>
            <a:off x="1279132" y="679035"/>
            <a:ext cx="952414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Analyzes lead and opportunity data to understand the complete sales pipeline.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Tracks key metrics such as lead sources, lead stages, conversions, active opportunities, and win rate.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Identifies high-performing lead sources, industries, and sales outcomes.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Highlights gaps in lead conversion and opportunity follow-up.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Supports data-driven decisions to improve sales efficiency and revenue growth.</a:t>
            </a:r>
          </a:p>
        </p:txBody>
      </p:sp>
    </p:spTree>
    <p:extLst>
      <p:ext uri="{BB962C8B-B14F-4D97-AF65-F5344CB8AC3E}">
        <p14:creationId xmlns:p14="http://schemas.microsoft.com/office/powerpoint/2010/main" val="6877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51CC5F-ADD0-5210-EEF6-A791D12CE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7" r="912" b="28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92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0BB567-698E-7442-F741-AA2ED8C01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" t="631"/>
          <a:stretch>
            <a:fillRect/>
          </a:stretch>
        </p:blipFill>
        <p:spPr>
          <a:xfrm>
            <a:off x="5753528" y="0"/>
            <a:ext cx="643847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2D147C-72CE-2947-B7EC-A1568EFDFDCE}"/>
              </a:ext>
            </a:extLst>
          </p:cNvPr>
          <p:cNvSpPr txBox="1"/>
          <p:nvPr/>
        </p:nvSpPr>
        <p:spPr>
          <a:xfrm>
            <a:off x="0" y="151179"/>
            <a:ext cx="555831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Compares total opportunities created with successfully closed-won deals over time.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Shows growth in total opportunities, indicating strong pipeline creation.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Highlights the gap between opportunities and wins, pointing to conversion improvement areas.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Helps track sales effectiveness and win-rate trends.</a:t>
            </a:r>
          </a:p>
        </p:txBody>
      </p:sp>
    </p:spTree>
    <p:extLst>
      <p:ext uri="{BB962C8B-B14F-4D97-AF65-F5344CB8AC3E}">
        <p14:creationId xmlns:p14="http://schemas.microsoft.com/office/powerpoint/2010/main" val="3772821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DD4D2-61B7-2BB8-8C97-281175662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428" y="0"/>
            <a:ext cx="616957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F78CE0-1823-01AC-920F-D82649F11C31}"/>
              </a:ext>
            </a:extLst>
          </p:cNvPr>
          <p:cNvSpPr txBox="1"/>
          <p:nvPr/>
        </p:nvSpPr>
        <p:spPr>
          <a:xfrm>
            <a:off x="246579" y="366623"/>
            <a:ext cx="547612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chart shows distribution of leads across different acquisition channels.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Identifies top-performing lead sources contributing maximum leads.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Helps evaluate marketing and sales channel effectiveness.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Supports better budget allocation and lead generation strategy.</a:t>
            </a:r>
          </a:p>
        </p:txBody>
      </p:sp>
    </p:spTree>
    <p:extLst>
      <p:ext uri="{BB962C8B-B14F-4D97-AF65-F5344CB8AC3E}">
        <p14:creationId xmlns:p14="http://schemas.microsoft.com/office/powerpoint/2010/main" val="3317865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A3F466-09CD-F51D-0993-0C39AE66C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8" t="557" b="1"/>
          <a:stretch>
            <a:fillRect/>
          </a:stretch>
        </p:blipFill>
        <p:spPr>
          <a:xfrm>
            <a:off x="5917324" y="0"/>
            <a:ext cx="6274676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59A7C9-02A4-7954-F7C9-7F6D7D66F81F}"/>
              </a:ext>
            </a:extLst>
          </p:cNvPr>
          <p:cNvSpPr txBox="1"/>
          <p:nvPr/>
        </p:nvSpPr>
        <p:spPr>
          <a:xfrm>
            <a:off x="199695" y="366622"/>
            <a:ext cx="571762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Compares total closed opportunities with successfully won deals over time.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Shows a steady increase in closed-won opportunities, indicating improving sales performance.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Highlights the gap between total closures and wins, helping analyze win efficiency.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Supports tracking sales trends and forecasting future revenue.</a:t>
            </a:r>
          </a:p>
        </p:txBody>
      </p:sp>
    </p:spTree>
    <p:extLst>
      <p:ext uri="{BB962C8B-B14F-4D97-AF65-F5344CB8AC3E}">
        <p14:creationId xmlns:p14="http://schemas.microsoft.com/office/powerpoint/2010/main" val="550324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92B497-C55D-A574-2653-BDB53857D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6" t="8149"/>
          <a:stretch>
            <a:fillRect/>
          </a:stretch>
        </p:blipFill>
        <p:spPr>
          <a:xfrm>
            <a:off x="5696607" y="0"/>
            <a:ext cx="649539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240102-F335-33D8-81F5-45B6720E0763}"/>
              </a:ext>
            </a:extLst>
          </p:cNvPr>
          <p:cNvSpPr txBox="1"/>
          <p:nvPr/>
        </p:nvSpPr>
        <p:spPr>
          <a:xfrm>
            <a:off x="94593" y="220717"/>
            <a:ext cx="560201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The chart shows the overall split between converted and non-converted leads.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Highlights that a large portion of leads remain unconverted, indicating conversion gaps.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Helps evaluate the effectiveness of lead nurturing and follow-up process.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Supports identifying opportunities to improve lead qualification and conversion rate.</a:t>
            </a:r>
          </a:p>
        </p:txBody>
      </p:sp>
    </p:spTree>
    <p:extLst>
      <p:ext uri="{BB962C8B-B14F-4D97-AF65-F5344CB8AC3E}">
        <p14:creationId xmlns:p14="http://schemas.microsoft.com/office/powerpoint/2010/main" val="71428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0A660E-979A-CEEA-75D5-477A3615C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117" y="0"/>
            <a:ext cx="648488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4A7C64-42B8-459D-891A-DB3E4D531C69}"/>
              </a:ext>
            </a:extLst>
          </p:cNvPr>
          <p:cNvSpPr txBox="1"/>
          <p:nvPr/>
        </p:nvSpPr>
        <p:spPr>
          <a:xfrm>
            <a:off x="173423" y="241738"/>
            <a:ext cx="5607268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The chart shows the distribution of opportunities across Open, Won, and Lost stages.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Highlights that lost opportunities are higher than won, indicating conversion improvement areas.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Helps evaluate overall sales performance and pipeline effectiveness.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Supports analysis of follow-up strategy to increase win rate and reduce losses.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4904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D314F7-F96C-B111-B46C-76CE0D9D1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10" y="0"/>
            <a:ext cx="669509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D03FE0-DCA2-C9DE-2F60-863D94A5ACB0}"/>
              </a:ext>
            </a:extLst>
          </p:cNvPr>
          <p:cNvSpPr txBox="1"/>
          <p:nvPr/>
        </p:nvSpPr>
        <p:spPr>
          <a:xfrm>
            <a:off x="277403" y="688369"/>
            <a:ext cx="484940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chart shows distribution of leads across different industries.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Identifies industries generating maximum leads.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Highlights key focus industries for sales efforts.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Helps prioritize industry-specific marketing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3220475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82A2-25A8-B6D8-4170-4012883D1B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EE253-63FE-07AA-3C28-B2E426E03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"/>
            <a:ext cx="5650787" cy="534256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Excel Opportunity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0963F-40DA-2084-4DCE-73C2FAE5A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257"/>
            <a:ext cx="12192000" cy="632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15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ABFBD-698D-89EF-4A89-115811F467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C2DF4-EAF4-3D28-ED7D-479B5E0DF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5003515" cy="62672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Excel Lead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D1BBA-F6B2-AD0F-FFCA-DFFACBB79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" t="2018"/>
          <a:stretch>
            <a:fillRect/>
          </a:stretch>
        </p:blipFill>
        <p:spPr>
          <a:xfrm>
            <a:off x="0" y="626724"/>
            <a:ext cx="12192000" cy="623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42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0DF4B-FED0-393B-CFC0-232463AE73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EA309-1CD3-2A52-F637-DC32BE3A8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1919" y="-184935"/>
            <a:ext cx="6380252" cy="80138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Power BI Opportunity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AB584-25E3-49CA-0CA8-72AD7EB6F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448"/>
            <a:ext cx="12191999" cy="62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49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DD06-CF10-CAE4-8E7C-01C317CC1B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E1F3B-0455-1B2A-9338-CE81F7EF5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"/>
            <a:ext cx="5291191" cy="55480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Power BI Lead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FA326-DA81-8F28-B3B7-22DB4D678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" t="662"/>
          <a:stretch>
            <a:fillRect/>
          </a:stretch>
        </p:blipFill>
        <p:spPr>
          <a:xfrm>
            <a:off x="71919" y="554805"/>
            <a:ext cx="12120081" cy="630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83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72B9-BBA5-7FB3-6B95-FC495F2E4C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A7AC4D-53C8-52E6-D93E-208AFCE33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99" y="0"/>
            <a:ext cx="5606265" cy="585627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Tableau Opportunity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2783DE-8593-D819-BCC1-F624BBEF5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1" t="5145" r="422" b="2897"/>
          <a:stretch>
            <a:fillRect/>
          </a:stretch>
        </p:blipFill>
        <p:spPr>
          <a:xfrm>
            <a:off x="13699" y="585626"/>
            <a:ext cx="12164602" cy="627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821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B129-D65A-5CFA-9AF6-D380AF232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98883-C9BD-0A3A-C35C-49063DD49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4407613" cy="565079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Tableau Lead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D05ED-696B-0547-7E07-1C77169C7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244" r="-1" b="3221"/>
          <a:stretch>
            <a:fillRect/>
          </a:stretch>
        </p:blipFill>
        <p:spPr>
          <a:xfrm>
            <a:off x="0" y="565079"/>
            <a:ext cx="12192000" cy="629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46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E9A930-8CD8-CF8A-7E6C-8F1171093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5079"/>
            <a:ext cx="12192000" cy="4417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25BA64-A982-524D-E4C0-ECE2438FCDC4}"/>
              </a:ext>
            </a:extLst>
          </p:cNvPr>
          <p:cNvSpPr txBox="1"/>
          <p:nvPr/>
        </p:nvSpPr>
        <p:spPr>
          <a:xfrm>
            <a:off x="3935004" y="0"/>
            <a:ext cx="479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lgerian" panose="04020705040A02060702" pitchFamily="82" charset="0"/>
              </a:rPr>
              <a:t>Opportunity By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ABBD19-74F6-4298-A24D-9F4CF513A44A}"/>
              </a:ext>
            </a:extLst>
          </p:cNvPr>
          <p:cNvSpPr txBox="1"/>
          <p:nvPr/>
        </p:nvSpPr>
        <p:spPr>
          <a:xfrm>
            <a:off x="359595" y="5404206"/>
            <a:ext cx="1091115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This query groups opportunities by industry and ranks them by opportunity count to identify top-performing industries.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012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6310C2-4DE1-48AA-2665-389B65688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2752"/>
            <a:ext cx="12192000" cy="4397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95C6B7-B46D-AB01-A527-FA555D662CF4}"/>
              </a:ext>
            </a:extLst>
          </p:cNvPr>
          <p:cNvSpPr txBox="1"/>
          <p:nvPr/>
        </p:nvSpPr>
        <p:spPr>
          <a:xfrm>
            <a:off x="4387065" y="10946"/>
            <a:ext cx="3904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lgerian" panose="04020705040A02060702" pitchFamily="82" charset="0"/>
              </a:rPr>
              <a:t>Lead By Industry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504600-4D21-E469-B482-70D3902CED6B}"/>
              </a:ext>
            </a:extLst>
          </p:cNvPr>
          <p:cNvSpPr txBox="1"/>
          <p:nvPr/>
        </p:nvSpPr>
        <p:spPr>
          <a:xfrm>
            <a:off x="441789" y="5373384"/>
            <a:ext cx="1067484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This query find industry-wise lead count to identify industries generating the highest number of leads.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197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0F5ED1-EE24-8DDC-C7E2-7CD473FCFFD7}"/>
              </a:ext>
            </a:extLst>
          </p:cNvPr>
          <p:cNvSpPr txBox="1"/>
          <p:nvPr/>
        </p:nvSpPr>
        <p:spPr>
          <a:xfrm>
            <a:off x="294289" y="991217"/>
            <a:ext cx="11603421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C000"/>
                </a:solidFill>
              </a:rPr>
              <a:t>Business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Certain lead sources and industries generate higher quality leads.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clear gap exists between total and active opportunities, impacting pipeline strength.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Conversion rates and win trends highlight overall sales efficiency.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C000"/>
                </a:solidFill>
              </a:rPr>
              <a:t>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Lead drop-offs observed at specific stages of the sales funnel.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Lower engagement on some created opportunities.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Inconsistent performance across lead sources and industries.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C000"/>
                </a:solidFill>
              </a:rPr>
              <a:t>Future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Focus marketing efforts on high-performing lead sources and industries.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Improve follow-up strategies to increase active opportunities and win rate.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Strengthen lead nurturing at critical funnel stages to improve conversions.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9E061-2052-DA2E-ECF8-AC3335785C53}"/>
              </a:ext>
            </a:extLst>
          </p:cNvPr>
          <p:cNvSpPr txBox="1"/>
          <p:nvPr/>
        </p:nvSpPr>
        <p:spPr>
          <a:xfrm>
            <a:off x="5270525" y="419138"/>
            <a:ext cx="429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18C5D9-7690-334F-4842-C713839B2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72" y="0"/>
            <a:ext cx="12118428" cy="76725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Algerian" panose="04020705040A02060702" pitchFamily="82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2253769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272ACF-42BE-9FDC-FF0D-D3A98011DC52}"/>
              </a:ext>
            </a:extLst>
          </p:cNvPr>
          <p:cNvSpPr txBox="1"/>
          <p:nvPr/>
        </p:nvSpPr>
        <p:spPr>
          <a:xfrm>
            <a:off x="162674" y="86691"/>
            <a:ext cx="1186665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Algerian" panose="04020705040A02060702" pitchFamily="82" charset="0"/>
              </a:rPr>
              <a:t>Conclusion</a:t>
            </a:r>
          </a:p>
          <a:p>
            <a:endParaRPr lang="en-US" sz="3600" b="1" dirty="0">
              <a:solidFill>
                <a:schemeClr val="tx2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The CRM Analytics project provides a unified view of the entire customer lifecycle, from lead generation to opportunity conversion and revenue analysis.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Interactive dashboards with KPIs, charts, and slicers enable quick and accurate performance tracking, helping stakeholders make informed, data-driven decisions.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The analysis highlights key business insights such as conversion efficiency, pipeline health, and industry-wise performance, allowing teams to identify strengths and improvement areas.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Overall, the project demonstrates how CRM data can be effectively transformed into actionable insights, supporting sales optimization, better forecasting, and long-term business growth</a:t>
            </a:r>
            <a:r>
              <a:rPr lang="en-US" sz="26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6584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C2D45B-B14C-EF14-0AB9-2C6F63B38B83}"/>
              </a:ext>
            </a:extLst>
          </p:cNvPr>
          <p:cNvSpPr txBox="1"/>
          <p:nvPr/>
        </p:nvSpPr>
        <p:spPr>
          <a:xfrm>
            <a:off x="467833" y="2711668"/>
            <a:ext cx="11198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2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34756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epth">
    <a:dk1>
      <a:sysClr val="windowText" lastClr="000000"/>
    </a:dk1>
    <a:lt1>
      <a:sysClr val="window" lastClr="FFFFFF"/>
    </a:lt1>
    <a:dk2>
      <a:srgbClr val="455F51"/>
    </a:dk2>
    <a:lt2>
      <a:srgbClr val="94D7E4"/>
    </a:lt2>
    <a:accent1>
      <a:srgbClr val="41AEBD"/>
    </a:accent1>
    <a:accent2>
      <a:srgbClr val="97E9D5"/>
    </a:accent2>
    <a:accent3>
      <a:srgbClr val="A2CF49"/>
    </a:accent3>
    <a:accent4>
      <a:srgbClr val="608F3D"/>
    </a:accent4>
    <a:accent5>
      <a:srgbClr val="F4DE3A"/>
    </a:accent5>
    <a:accent6>
      <a:srgbClr val="FCB11C"/>
    </a:accent6>
    <a:hlink>
      <a:srgbClr val="FBCA98"/>
    </a:hlink>
    <a:folHlink>
      <a:srgbClr val="D3B86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</TotalTime>
  <Words>630</Words>
  <Application>Microsoft Office PowerPoint</Application>
  <PresentationFormat>Widescreen</PresentationFormat>
  <Paragraphs>95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Algerian</vt:lpstr>
      <vt:lpstr>Arial</vt:lpstr>
      <vt:lpstr>Calibri</vt:lpstr>
      <vt:lpstr>Corbel</vt:lpstr>
      <vt:lpstr>Wingdings</vt:lpstr>
      <vt:lpstr>Depth</vt:lpstr>
      <vt:lpstr> </vt:lpstr>
      <vt:lpstr>1. Arti  Gadhave 2.   Pilli Venkata Dharani 3. Ninar Vennela 4. Mogasala Nihitha 5. Shivam Gupta 6. Muthe DevikaSai 7. Phalak Ahmed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Takeaways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6</cp:revision>
  <dcterms:created xsi:type="dcterms:W3CDTF">2026-01-22T14:10:35Z</dcterms:created>
  <dcterms:modified xsi:type="dcterms:W3CDTF">2026-01-29T13:37:05Z</dcterms:modified>
</cp:coreProperties>
</file>